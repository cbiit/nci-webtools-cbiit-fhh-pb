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7" r:id="rId5"/>
    <p:sldId id="258" r:id="rId6"/>
    <p:sldId id="259" r:id="rId7"/>
    <p:sldId id="261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3BFC6-1607-FA82-FBDB-70085E240227}" v="140" dt="2026-06-08T15:06:35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5631" autoAdjust="0"/>
  </p:normalViewPr>
  <p:slideViewPr>
    <p:cSldViewPr snapToGrid="0">
      <p:cViewPr varScale="1">
        <p:scale>
          <a:sx n="98" d="100"/>
          <a:sy n="98" d="100"/>
        </p:scale>
        <p:origin x="10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ck, Lauren (NIH/NCI) [F]" userId="S::blacklm@nih.gov::9b1e9c3a-0e5d-4d10-a864-217766d062e8" providerId="AD" clId="Web-{9EB3BFC6-1607-FA82-FBDB-70085E240227}"/>
    <pc:docChg chg="modSld">
      <pc:chgData name="Black, Lauren (NIH/NCI) [F]" userId="S::blacklm@nih.gov::9b1e9c3a-0e5d-4d10-a864-217766d062e8" providerId="AD" clId="Web-{9EB3BFC6-1607-FA82-FBDB-70085E240227}" dt="2026-06-08T15:06:35.063" v="139"/>
      <pc:docMkLst>
        <pc:docMk/>
      </pc:docMkLst>
      <pc:sldChg chg="modSp">
        <pc:chgData name="Black, Lauren (NIH/NCI) [F]" userId="S::blacklm@nih.gov::9b1e9c3a-0e5d-4d10-a864-217766d062e8" providerId="AD" clId="Web-{9EB3BFC6-1607-FA82-FBDB-70085E240227}" dt="2026-06-08T15:06:35.063" v="139"/>
        <pc:sldMkLst>
          <pc:docMk/>
          <pc:sldMk cId="3567050991" sldId="264"/>
        </pc:sldMkLst>
        <pc:graphicFrameChg chg="mod modGraphic">
          <ac:chgData name="Black, Lauren (NIH/NCI) [F]" userId="S::blacklm@nih.gov::9b1e9c3a-0e5d-4d10-a864-217766d062e8" providerId="AD" clId="Web-{9EB3BFC6-1607-FA82-FBDB-70085E240227}" dt="2026-06-08T15:06:35.063" v="139"/>
          <ac:graphicFrameMkLst>
            <pc:docMk/>
            <pc:sldMk cId="3567050991" sldId="264"/>
            <ac:graphicFrameMk id="24" creationId="{54B18D44-7862-3968-9DB6-4EDA184C196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61D37-B36A-4141-AA39-276F02AB9FB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F42AF-23FF-44B9-B65A-34DA891D7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9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6080-7F43-395D-C193-9156BDC43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71E47-AFDD-AA1F-7F08-D74B60199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57890-96C8-69EA-8A0A-780C0AFE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19C97-F366-2C4B-04CE-A5EA48D2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BB19A-E57D-24CA-7802-5CADEC852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3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0A30-1EF4-CA18-79C3-A449A5B6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3C603-4F6F-0093-0673-9BFFF3364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A4C12-7F96-0B61-6D3C-A9D8142E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0DA34-59D0-0331-32CD-2C3688E5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E5551-EF1D-D51A-AB34-43F482CC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9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FA5D-1DAD-8641-8342-3A1CA7C0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19369-34AC-8B55-65A5-2814B554A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8844D-D5A1-F538-44F6-2AF7B83A5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C1DE2-EAC6-CBA1-99D9-8C68F8A1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80C5-254E-1666-6658-65D5425E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2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5336-6188-1E01-0B83-ADD1BF78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6CD6-B6C3-D7CF-FA70-209FBBD61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934D8-5825-60CC-4265-9A1DB7A0C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7BD33-E2A2-5339-4982-C66E34E8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ABDBF-FBC5-8E14-2E17-E6496608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495E5-533B-E478-C50E-A6CD0EEE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7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9087B-E49E-D605-778C-C6E865334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57149-B457-C7F6-3FA0-6B3D0BE7E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C0444-F78B-4AA3-10C9-DF44C7C59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6D9DA-C490-3854-A91F-F627BB324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810B2-34C4-E5F4-C438-2E59F1A1D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3C16C9-7F23-4922-2A19-FC6DCC04F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9BF4F-E94A-482C-E398-3EA7F663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D8632-AA20-FD96-FE4B-8CFA3E7F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00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AB4D-5859-7A87-A2D5-110BAE2D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8F8F8-DAD4-BAE5-A534-80CD96F9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E4A93-ED85-05DC-7648-76598D5A8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D0C7F-CFFA-6F04-4189-A5B019E5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14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93633-999D-B26A-FD73-9CE2C606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E4B75-8102-57CA-1FC6-D25117D14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1F0F1-C85C-123C-3FDF-DC5FFAC3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61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EF72-F358-ECB5-CC43-BA7F9BC4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8570-7EED-3149-BF27-0BBA771C6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271A1-BA9F-FE7D-4E43-44B7CDC78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4F040-50C7-0118-38D6-B861243D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6DE13-1580-2240-E838-0CF9A135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7423C-7623-E744-C86C-3C8DF481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4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1EAF-B841-FFAB-2E83-C97FF72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0DCBA6-C7E6-8B1A-E9CE-AC9583BE7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B82EF-0660-0684-2907-5E05CC9FA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2E9DD-DED4-BAAB-2F01-D6AA03C4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48ACB-7E13-BCAE-A2B6-75AD2C0E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83410-E49F-3B6D-642E-9D58C032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04B0-A107-03B1-32AD-9402430F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C2E8D-B1C9-1A84-8B56-67EA810B8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4DF13-BDE4-B144-0FBA-BC5F6924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68FDE-4A80-41A1-5B53-A7F362F3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81A57-33E2-EA21-BD52-8F35A3FF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1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236DE-96DF-9A4A-BA4F-2FB40226A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606FE-211E-C44F-D249-C68B81C8C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4D2EE-ECB6-FBBE-7E5C-4F53CA92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D83DC-4805-F298-6928-5C3514EB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382DC-564B-330B-6BE3-B45F50DE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08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FB1C9F-C11B-34D6-F174-C75E80FA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E9848-DCE0-26B2-15C8-FF33AC29F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E9C93-4259-F2E6-9C95-B83AA5C3C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C60B3-642E-4C69-BE66-5573708A586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E5F56-4B92-9878-0054-B06AD3070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9ED22-1018-8E04-AA57-286BDF70A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09129-758F-485C-801D-333330187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DC178A5-A99B-B4CC-8E44-FF651FC0F24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190795"/>
            <a:ext cx="6318699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u="sng" dirty="0">
                <a:latin typeface="+mj-lt"/>
              </a:rPr>
              <a:t>PPB Pedigree Quadrants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C94DBC-5542-36B8-A8E9-DC283D5F512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166191865"/>
              </p:ext>
            </p:extLst>
          </p:nvPr>
        </p:nvGraphicFramePr>
        <p:xfrm>
          <a:off x="5298127" y="1660895"/>
          <a:ext cx="6037839" cy="3095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 Cancer list to determine if a patient has any cancers, (Y/N)</a:t>
                      </a:r>
                    </a:p>
                    <a:p>
                      <a:pPr algn="l"/>
                      <a:r>
                        <a:rPr lang="en-US" sz="1400" dirty="0"/>
                        <a:t>Logic: if ICDO3 Topography is IN (C340-C349, C384 OR C389) AND </a:t>
                      </a:r>
                      <a:r>
                        <a:rPr lang="en-US" sz="1400"/>
                        <a:t>ICDO3 Morphology = 8973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Any cancer that is not already defined in PPB or DICER Spectrum Disorders list, 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(Y/N)</a:t>
                      </a:r>
                      <a:endParaRPr lang="en-US" sz="1400" dirty="0"/>
                    </a:p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III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 file to determine Cancers and/or noncancer specified, 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(Y/N)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30859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F699A0-F8B3-5F32-6341-DE78229402F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574532415"/>
              </p:ext>
            </p:extLst>
          </p:nvPr>
        </p:nvGraphicFramePr>
        <p:xfrm>
          <a:off x="856034" y="1689090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Cancers: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Cancer (Y/N), excluding any cancer(s)already defined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PPB:</a:t>
                      </a:r>
                      <a:r>
                        <a:rPr lang="en-US" sz="1400" dirty="0"/>
                        <a:t> The main conditions of interest for study (Y/N)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Non-Cancers: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Non-Cancer (Y/N), excluding any non-cancer(s)already defined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DICER Spectrum Disorders:</a:t>
                      </a:r>
                      <a:r>
                        <a:rPr lang="en-US" sz="1400" dirty="0"/>
                        <a:t> The conditions of interest for DICER1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49E7383-E1FF-ED1F-9EC2-8A5FAC4D2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53153" y="3089784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D7FB4-9944-8584-5DFD-C667CC7C38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11361" y="3089784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F090AA-9BE5-2E51-E52A-457C60919A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9888" y="4798254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5DA7EC-C4AD-0D3E-F006-926AB2283B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8395" y="4798253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129336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1C6F010-3101-62A8-F87D-0D4A305B09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213929"/>
            <a:ext cx="1056968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u="sng" dirty="0">
                <a:latin typeface="+mj-lt"/>
              </a:rPr>
              <a:t>IBMFS Pedigree Quadrants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EB3E18-8251-D8E0-8261-4E262C1BC73A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523821648"/>
              </p:ext>
            </p:extLst>
          </p:nvPr>
        </p:nvGraphicFramePr>
        <p:xfrm>
          <a:off x="5298127" y="1674991"/>
          <a:ext cx="6037839" cy="372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  <a:cs typeface="Times New Roman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 the IBMFS COIs List to determine if a patient has any IBMFS conditions, (Y/N)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/>
                          <a:cs typeface="Times New Roman"/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Has any cancer that is not already defined in another quadrant, (Y/N)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  <a:cs typeface="Times New Roman"/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Has any non-cancer that is not already defined 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in another quadrant, (Y/N)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308597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IV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Use the Hematologic COIs List to determine if a patient has any Hematologic conditions, (Y/N)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03978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A5C44C-3795-0737-7CF5-77FF2016455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597693699"/>
              </p:ext>
            </p:extLst>
          </p:nvPr>
        </p:nvGraphicFramePr>
        <p:xfrm>
          <a:off x="856034" y="1674992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Cancers: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Cancer (Y/N), excluding any cancer(s) already defined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/>
                        <a:t>IBMFS:</a:t>
                      </a:r>
                      <a:r>
                        <a:rPr lang="en-US" sz="1400" dirty="0"/>
                        <a:t> The main condition for study (Y/N)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Non-Cancers: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Non-Cancer (Y/N), excluding any non-cancer(s)already defined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/>
                        <a:t>Hematologic: </a:t>
                      </a:r>
                      <a:r>
                        <a:rPr lang="en-US" sz="1400" dirty="0"/>
                        <a:t>Hematologic conditions defined (Y/N)</a:t>
                      </a:r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06D2905-7D98-EC69-333D-1D6D6B97201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53153" y="3075686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5BD57-212B-0780-DCF0-1A930CD469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11361" y="3075686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5A6A31-1BD9-C126-B065-93F6116861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9888" y="4784156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3D288-0070-9F05-B801-190336E639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8395" y="4784155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98651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8A73-0E38-3C51-6476-A95D7D16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00AA35-679B-4EC4-19B7-FE27E4BEA8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213929"/>
            <a:ext cx="89354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latin typeface="+mj-lt"/>
              </a:rPr>
              <a:t>LFS Pedigree Quadrants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50A074-2C8F-E0D3-66E5-4B768E0FB487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069155615"/>
              </p:ext>
            </p:extLst>
          </p:nvPr>
        </p:nvGraphicFramePr>
        <p:xfrm>
          <a:off x="5298127" y="1674991"/>
          <a:ext cx="6037839" cy="21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Use COIs List to 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determine if a patient has any LFS non cancer conditions, (Y/N)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Any cancer(s) a patient is diagnosed with (Y/N), use abbreviations when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51EDF3-0A6F-21F8-2ECE-F9EB26AA9E7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426025055"/>
              </p:ext>
            </p:extLst>
          </p:nvPr>
        </p:nvGraphicFramePr>
        <p:xfrm>
          <a:off x="856034" y="1674991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 dirty="0"/>
                        <a:t>Cancer COIs: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Any Cancer (Y/N)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/>
                        <a:t>Non Cancer COIs:</a:t>
                      </a:r>
                      <a:r>
                        <a:rPr lang="en-US" sz="1400" dirty="0"/>
                        <a:t> The non-cancer (Y/N)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dirty="0"/>
                        <a:t>-</a:t>
                      </a:r>
                    </a:p>
                    <a:p>
                      <a:pPr algn="ctr"/>
                      <a:endParaRPr lang="en-US" sz="1400" b="0" u="none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EE2C78-F44E-0F80-96E7-3EAD20577F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53153" y="3075685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89C99-BA32-A76F-4113-5CC0CD502B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11361" y="3075685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EACA2-2FA1-B794-D4B7-D6480AE21C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9888" y="4784155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DD620-DBD9-935B-FA1E-B7E1E4E8A20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8395" y="4784154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62253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B74AF7-59E6-2340-BBF9-946B54C174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205204"/>
            <a:ext cx="1001779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u="sng" dirty="0">
                <a:latin typeface="+mj-lt"/>
              </a:rPr>
              <a:t>RASopathy Pedigree Quadrants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7098F6-80D9-45EE-0B98-0956950F975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214391"/>
              </p:ext>
            </p:extLst>
          </p:nvPr>
        </p:nvGraphicFramePr>
        <p:xfrm>
          <a:off x="868020" y="1674992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i="0" u="sng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Endocrine: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Any COIs marked for Endocrine quadrant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u="sng" dirty="0"/>
                        <a:t>Cancer:</a:t>
                      </a:r>
                      <a:r>
                        <a:rPr lang="en-US" sz="1500" b="0" u="none" dirty="0"/>
                        <a:t>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500" b="0" u="none" dirty="0"/>
                        <a:t>Any Cancer (Y/N)</a:t>
                      </a:r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500" b="1" u="sng" dirty="0"/>
                        <a:t>Cardiac:</a:t>
                      </a: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Any COIs marked for Cardiac quadrant</a:t>
                      </a:r>
                      <a:endParaRPr lang="en-US" sz="1500" b="1" u="sng" dirty="0"/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500" b="1" u="sng" dirty="0"/>
                        <a:t>Neuro:</a:t>
                      </a: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5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Any COIs marked for Neuro quadrant</a:t>
                      </a:r>
                      <a:endParaRPr lang="en-US" sz="1500" b="1" u="sng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E1A942-BD36-2228-D951-0118A2584C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65139" y="3075686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D5AFC-F9A5-221C-A221-1BBD844789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23347" y="3075686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C7854-D878-9A30-0F85-8DB936ACE8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51874" y="4784156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3AA11-8BD2-C6F5-19E8-A374666204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20381" y="4784155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625510-F8AE-03F6-9B1C-1E6DEE062449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128332877"/>
              </p:ext>
            </p:extLst>
          </p:nvPr>
        </p:nvGraphicFramePr>
        <p:xfrm>
          <a:off x="5298127" y="1674992"/>
          <a:ext cx="6037839" cy="3726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2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Any cancer(s) a patient is diagnosed with (Y/N), use abbreviations when needed</a:t>
                      </a:r>
                      <a:endParaRPr lang="en-US" sz="1400" dirty="0">
                        <a:latin typeface="Apto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ptos"/>
                        </a:rPr>
                        <a:t>Any icd codes marked with quadrant assignment Endocrine in Specs excel (Y/N)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Any icd codes marked with quadrant assignment Cardiac in Specs excel </a:t>
                      </a:r>
                      <a:r>
                        <a:rPr lang="en-US" sz="1400" dirty="0">
                          <a:latin typeface="+mn-lt"/>
                        </a:rPr>
                        <a:t>(Y/N)</a:t>
                      </a:r>
                      <a:endParaRPr lang="en-US" sz="1400" dirty="0">
                        <a:latin typeface="Apto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308597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IV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Any icd codes marked with quadrant assignment Neuro in Specs excel </a:t>
                      </a:r>
                      <a:r>
                        <a:rPr lang="en-US" sz="1400" dirty="0">
                          <a:latin typeface="+mn-lt"/>
                        </a:rPr>
                        <a:t>(Y/N)</a:t>
                      </a:r>
                      <a:endParaRPr lang="en-US" sz="1400" dirty="0">
                        <a:latin typeface="Apto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071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583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664D-924E-7FEC-3863-2AF517F3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B89646-E33C-3F13-6370-068028D0C3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205204"/>
            <a:ext cx="10367994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u="sng" dirty="0">
                <a:latin typeface="+mj-lt"/>
              </a:rPr>
              <a:t>Fanconi Pedigree Quadrants – In Progress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12250CF-B172-22A4-7518-BF3C221C4FF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451414304"/>
              </p:ext>
            </p:extLst>
          </p:nvPr>
        </p:nvGraphicFramePr>
        <p:xfrm>
          <a:off x="5298127" y="1674992"/>
          <a:ext cx="6037839" cy="372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  <a:cs typeface="Times New Roman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/>
                          <a:cs typeface="Times New Roman"/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/>
                          <a:cs typeface="Times New Roman"/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308597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IV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95195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4B18D44-7862-3968-9DB6-4EDA184C1967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414617468"/>
              </p:ext>
            </p:extLst>
          </p:nvPr>
        </p:nvGraphicFramePr>
        <p:xfrm>
          <a:off x="856033" y="1674992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MDS/AML: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--</a:t>
                      </a:r>
                      <a:endParaRPr lang="en-US" sz="1400" dirty="0"/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/>
                        <a:t>Transplant:</a:t>
                      </a:r>
                      <a:r>
                        <a:rPr lang="en-US" sz="1400" dirty="0"/>
                        <a:t>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/>
                        <a:t>--</a:t>
                      </a:r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u="sng"/>
                        <a:t>Solid Tumors:</a:t>
                      </a:r>
                      <a:r>
                        <a:rPr lang="en-US" sz="1400" dirty="0"/>
                        <a:t>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--</a:t>
                      </a:r>
                      <a:endParaRPr lang="en-US" sz="1400" dirty="0"/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sng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FANS: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 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--</a:t>
                      </a:r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90FF205-3E9F-0A4A-9DB7-58B8775659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53152" y="3075686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CA5A53-01D4-AAEC-A22F-5D1B853381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11360" y="3075686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F32AB1-2C76-CE6D-8429-70DED459F2D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9887" y="4784156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4A18AC-7370-2612-92EC-F67C93492F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8394" y="4784155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56705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2910-9DD2-3709-0AF1-FAE1195BA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990EEE-54F5-370C-6740-7301CB7BF429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260803155"/>
              </p:ext>
            </p:extLst>
          </p:nvPr>
        </p:nvGraphicFramePr>
        <p:xfrm>
          <a:off x="5298127" y="1666267"/>
          <a:ext cx="6037839" cy="372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308597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242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B72B3F7-CB58-0AC1-627F-88B765D4A2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222655"/>
            <a:ext cx="7464359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 u="sng" dirty="0">
                <a:latin typeface="+mj-lt"/>
              </a:rPr>
              <a:t>Melanoma Pedigree Quadrants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C7C714-7AC5-D6C5-B127-3E654177E037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468924002"/>
              </p:ext>
            </p:extLst>
          </p:nvPr>
        </p:nvGraphicFramePr>
        <p:xfrm>
          <a:off x="856034" y="1674992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dirty="0"/>
                        <a:t>Cancers:</a:t>
                      </a:r>
                      <a:r>
                        <a:rPr lang="en-US" sz="1400" dirty="0"/>
                        <a:t> 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Any Cancer (Y/N), excluding any cancer(s) already defined</a:t>
                      </a:r>
                      <a:endParaRPr lang="en-US" dirty="0"/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dirty="0"/>
                        <a:t>Melanoma COIs:</a:t>
                      </a:r>
                      <a:r>
                        <a:rPr lang="en-US" sz="1400" dirty="0"/>
                        <a:t> 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The main conditions of interest for study (Y/N)</a:t>
                      </a:r>
                      <a:endParaRPr lang="en-US" sz="1400" dirty="0"/>
                    </a:p>
                    <a:p>
                      <a:pPr lvl="0" algn="ctr">
                        <a:buNone/>
                      </a:pPr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-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/>
                        <a:t>DN COI:</a:t>
                      </a:r>
                      <a:r>
                        <a:rPr lang="en-US" sz="1400" dirty="0"/>
                        <a:t> if DN or </a:t>
                      </a:r>
                      <a:r>
                        <a:rPr lang="en-US" sz="1400" b="0" i="0" u="none" strike="noStrike" noProof="0" dirty="0">
                          <a:latin typeface="Aptos"/>
                        </a:rPr>
                        <a:t>DN Status for Analysis Purposes = 1 (currently not in report)</a:t>
                      </a:r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8E83C9-398B-F214-4CDB-DA6F8947FD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53153" y="3075686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104E6-363B-4ECB-6337-7BE62D6AED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11361" y="3075686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5573D9-A11D-A278-C095-1C4C93B575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9888" y="4784156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66AE5-34E9-D0EF-1658-0A95D3FC38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8395" y="4784155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86142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AA49-E3EC-CAA4-B449-B66EC2F5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197474-5A08-E8E6-8A31-94A6D68322F3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5954669"/>
              </p:ext>
            </p:extLst>
          </p:nvPr>
        </p:nvGraphicFramePr>
        <p:xfrm>
          <a:off x="5298127" y="1666266"/>
          <a:ext cx="6037839" cy="372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786">
                  <a:extLst>
                    <a:ext uri="{9D8B030D-6E8A-4147-A177-3AD203B41FA5}">
                      <a16:colId xmlns:a16="http://schemas.microsoft.com/office/drawing/2014/main" val="2432015569"/>
                    </a:ext>
                  </a:extLst>
                </a:gridCol>
                <a:gridCol w="4833053">
                  <a:extLst>
                    <a:ext uri="{9D8B030D-6E8A-4147-A177-3AD203B41FA5}">
                      <a16:colId xmlns:a16="http://schemas.microsoft.com/office/drawing/2014/main" val="1726488199"/>
                    </a:ext>
                  </a:extLst>
                </a:gridCol>
              </a:tblGrid>
              <a:tr h="55236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36585"/>
                  </a:ext>
                </a:extLst>
              </a:tr>
              <a:tr h="7990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14789"/>
                  </a:ext>
                </a:extLst>
              </a:tr>
              <a:tr h="820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906952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308597"/>
                  </a:ext>
                </a:extLst>
              </a:tr>
              <a:tr h="7776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2429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7D6EED-7135-EBF0-3E3D-43FBBFA6495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6034" y="205204"/>
            <a:ext cx="10204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latin typeface="+mj-lt"/>
              </a:rPr>
              <a:t>Omnibus Generic Quadrants – In Progress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51746E-A925-BBC3-7262-EDF9074944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665878"/>
              </p:ext>
            </p:extLst>
          </p:nvPr>
        </p:nvGraphicFramePr>
        <p:xfrm>
          <a:off x="854277" y="1666266"/>
          <a:ext cx="3857570" cy="3473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8785">
                  <a:extLst>
                    <a:ext uri="{9D8B030D-6E8A-4147-A177-3AD203B41FA5}">
                      <a16:colId xmlns:a16="http://schemas.microsoft.com/office/drawing/2014/main" val="4099252049"/>
                    </a:ext>
                  </a:extLst>
                </a:gridCol>
                <a:gridCol w="1928785">
                  <a:extLst>
                    <a:ext uri="{9D8B030D-6E8A-4147-A177-3AD203B41FA5}">
                      <a16:colId xmlns:a16="http://schemas.microsoft.com/office/drawing/2014/main" val="3210528767"/>
                    </a:ext>
                  </a:extLst>
                </a:gridCol>
              </a:tblGrid>
              <a:tr h="17959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Any Cancer (Y/N), excluding any cancer(s) singled out in another quadrant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FFFF00"/>
                          </a:highlight>
                        </a:rPr>
                        <a:t>The main condition for study (Y/N)</a:t>
                      </a:r>
                    </a:p>
                    <a:p>
                      <a:pPr algn="ctr"/>
                      <a:r>
                        <a:rPr lang="en-US" sz="1400" dirty="0"/>
                        <a:t>Ex: Melanoma for Mel Study, Chordoma for Chordoma study, RASopathy for RAS, etc.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3097696322"/>
                  </a:ext>
                </a:extLst>
              </a:tr>
              <a:tr h="16772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Procedures of interest (Y/N), per study designation</a:t>
                      </a:r>
                    </a:p>
                  </a:txBody>
                  <a:tcPr marL="77151" marR="77151" marT="38576" marB="38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Non-Cancer COIs (Y/N), per study designation</a:t>
                      </a:r>
                    </a:p>
                  </a:txBody>
                  <a:tcPr marL="77151" marR="77151" marT="38576" marB="38576" anchor="ctr"/>
                </a:tc>
                <a:extLst>
                  <a:ext uri="{0D108BD9-81ED-4DB2-BD59-A6C34878D82A}">
                    <a16:rowId xmlns:a16="http://schemas.microsoft.com/office/drawing/2014/main" val="21272275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0BAF79F-7272-C9C7-A325-986C76A0A9E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51396" y="3066960"/>
            <a:ext cx="24112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5958A-0903-FB4E-D721-4BC2EB8B7E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09604" y="3066960"/>
            <a:ext cx="368422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6440B-8710-EB36-D8EE-7A534FECC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38131" y="4775430"/>
            <a:ext cx="439895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AA7CB-EE32-BB05-268F-85EFD9E4769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06638" y="4775429"/>
            <a:ext cx="385881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57311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88F4E287EB8A449A4E92901A756D50" ma:contentTypeVersion="18" ma:contentTypeDescription="Create a new document." ma:contentTypeScope="" ma:versionID="e96febea043205bfbdbee1e4a8d805c6">
  <xsd:schema xmlns:xsd="http://www.w3.org/2001/XMLSchema" xmlns:xs="http://www.w3.org/2001/XMLSchema" xmlns:p="http://schemas.microsoft.com/office/2006/metadata/properties" xmlns:ns2="4a79b4f7-0f50-46b9-b575-1ae67d8e3eae" xmlns:ns3="fed217b5-a79e-4f4a-9771-7e79ef33de59" targetNamespace="http://schemas.microsoft.com/office/2006/metadata/properties" ma:root="true" ma:fieldsID="1975b2474f9f28848026adefc0c0a42e" ns2:_="" ns3:_="">
    <xsd:import namespace="4a79b4f7-0f50-46b9-b575-1ae67d8e3eae"/>
    <xsd:import namespace="fed217b5-a79e-4f4a-9771-7e79ef33d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79b4f7-0f50-46b9-b575-1ae67d8e3e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ce9f98e-9ad5-43de-b59a-72d7e946a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217b5-a79e-4f4a-9771-7e79ef33de5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257065b-b2cd-417b-bc66-4d731785b310}" ma:internalName="TaxCatchAll" ma:showField="CatchAllData" ma:web="fed217b5-a79e-4f4a-9771-7e79ef33de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79b4f7-0f50-46b9-b575-1ae67d8e3eae">
      <Terms xmlns="http://schemas.microsoft.com/office/infopath/2007/PartnerControls"/>
    </lcf76f155ced4ddcb4097134ff3c332f>
    <TaxCatchAll xmlns="fed217b5-a79e-4f4a-9771-7e79ef33de59" xsi:nil="true"/>
  </documentManagement>
</p:properties>
</file>

<file path=customXml/itemProps1.xml><?xml version="1.0" encoding="utf-8"?>
<ds:datastoreItem xmlns:ds="http://schemas.openxmlformats.org/officeDocument/2006/customXml" ds:itemID="{05EFD111-D2E8-4C2A-A46B-6027BB2CA8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79b4f7-0f50-46b9-b575-1ae67d8e3eae"/>
    <ds:schemaRef ds:uri="fed217b5-a79e-4f4a-9771-7e79ef33de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0E6769-8730-471B-B1D4-1A16063842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3BF289-2C2B-4B86-B195-65EBB93165AE}">
  <ds:schemaRefs>
    <ds:schemaRef ds:uri="http://schemas.microsoft.com/office/2006/metadata/properties"/>
    <ds:schemaRef ds:uri="http://schemas.microsoft.com/office/infopath/2007/PartnerControls"/>
    <ds:schemaRef ds:uri="4a79b4f7-0f50-46b9-b575-1ae67d8e3eae"/>
    <ds:schemaRef ds:uri="fed217b5-a79e-4f4a-9771-7e79ef33de5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675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Hatton, Jessica (NIH/NCI) [C]</dc:creator>
  <cp:lastModifiedBy>Black, Lauren (NIH/NCI) [F]</cp:lastModifiedBy>
  <cp:revision>233</cp:revision>
  <dcterms:created xsi:type="dcterms:W3CDTF">2025-07-15T14:50:49Z</dcterms:created>
  <dcterms:modified xsi:type="dcterms:W3CDTF">2026-06-08T15:06:37Z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0x010100C888F4E287EB8A449A4E92901A756D50</vt:lpwstr>
  </property>
  <property fmtid="{D5CDD505-2E9C-101B-9397-08002B2CF9AE}" pid="3" name="MediaServiceImageTags">
    <vt:lpwstr/>
  </property>
</Properties>
</file>